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Gotham" charset="0"/>
      <p:regular r:id="rId18"/>
    </p:embeddedFont>
    <p:embeddedFont>
      <p:font typeface="Cambria" pitchFamily="18" charset="0"/>
      <p:regular r:id="rId19"/>
      <p:bold r:id="rId20"/>
      <p:italic r:id="rId21"/>
      <p:boldItalic r:id="rId22"/>
    </p:embeddedFont>
    <p:embeddedFont>
      <p:font typeface="Bookman Old Style" pitchFamily="18" charset="0"/>
      <p:regular r:id="rId23"/>
      <p:bold r:id="rId24"/>
      <p:italic r:id="rId25"/>
      <p:boldItalic r:id="rId26"/>
    </p:embeddedFont>
    <p:embeddedFont>
      <p:font typeface="Gotham Bold Italics" charset="0"/>
      <p:regular r:id="rId27"/>
    </p:embeddedFont>
    <p:embeddedFont>
      <p:font typeface="Calibri"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1155" autoAdjust="0"/>
  </p:normalViewPr>
  <p:slideViewPr>
    <p:cSldViewPr>
      <p:cViewPr>
        <p:scale>
          <a:sx n="75" d="100"/>
          <a:sy n="75" d="100"/>
        </p:scale>
        <p:origin x="924" y="-9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04FF14-2012-4D9A-A364-FFE5E5F345EA}" type="datetimeFigureOut">
              <a:rPr lang="en-IN" smtClean="0"/>
              <a:t>27-03-2026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3ED8BB-83AC-42D8-AC3E-8744ADA1686B}" type="slidenum">
              <a:rPr lang="en-IN" smtClean="0"/>
              <a:t>‹#›</a:t>
            </a:fld>
            <a:endParaRPr lang="en-IN"/>
          </a:p>
        </p:txBody>
      </p:sp>
    </p:spTree>
    <p:extLst>
      <p:ext uri="{BB962C8B-B14F-4D97-AF65-F5344CB8AC3E}">
        <p14:creationId xmlns:p14="http://schemas.microsoft.com/office/powerpoint/2010/main" val="1712170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53ED8BB-83AC-42D8-AC3E-8744ADA1686B}" type="slidenum">
              <a:rPr lang="en-IN" smtClean="0"/>
              <a:t>2</a:t>
            </a:fld>
            <a:endParaRPr lang="en-IN"/>
          </a:p>
        </p:txBody>
      </p:sp>
    </p:spTree>
    <p:extLst>
      <p:ext uri="{BB962C8B-B14F-4D97-AF65-F5344CB8AC3E}">
        <p14:creationId xmlns:p14="http://schemas.microsoft.com/office/powerpoint/2010/main" val="4165446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xmlns=""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xmlns=""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xmlns=""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xmlns=""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IN" sz="3600" b="1" dirty="0" smtClean="0">
                <a:solidFill>
                  <a:srgbClr val="C00000"/>
                </a:solidFill>
                <a:latin typeface="Arial" panose="020B0604020202020204" pitchFamily="34" charset="0"/>
                <a:cs typeface="Arial" panose="020B0604020202020204" pitchFamily="34" charset="0"/>
              </a:rPr>
              <a:t>24-03-2026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xmlns=""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a:solidFill>
                  <a:srgbClr val="0033CC"/>
                </a:solidFill>
                <a:latin typeface="Times New Roman" panose="02020603050405020304" pitchFamily="18" charset="0"/>
                <a:cs typeface="Times New Roman" panose="02020603050405020304" pitchFamily="18" charset="0"/>
              </a:rPr>
              <a:t>Relational Inventory Control &amp; Stock Tracking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EA8EEF4A-EB43-B7D9-87FC-7C7D752BCA78}"/>
              </a:ext>
            </a:extLst>
          </p:cNvPr>
          <p:cNvSpPr txBox="1"/>
          <p:nvPr/>
        </p:nvSpPr>
        <p:spPr>
          <a:xfrm>
            <a:off x="893870" y="7800539"/>
            <a:ext cx="9067800"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smtClean="0">
                <a:latin typeface="Cambria" panose="02040503050406030204" pitchFamily="18" charset="0"/>
                <a:ea typeface="Cambria" panose="02040503050406030204" pitchFamily="18" charset="0"/>
              </a:rPr>
              <a:t>D. ABDULKHADARVALI– VTU30308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23UECS2059</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xmlns="" id="{6FF32D1A-2F9C-AC53-CCBD-ABF748DF236F}"/>
              </a:ext>
            </a:extLst>
          </p:cNvPr>
          <p:cNvSpPr txBox="1"/>
          <p:nvPr/>
        </p:nvSpPr>
        <p:spPr>
          <a:xfrm>
            <a:off x="10945035" y="7818586"/>
            <a:ext cx="6914603" cy="21698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Mr. S. </a:t>
            </a:r>
            <a:r>
              <a:rPr lang="en-US" sz="3000" dirty="0" smtClean="0">
                <a:latin typeface="Cambria" panose="02040503050406030204" pitchFamily="18" charset="0"/>
                <a:ea typeface="Cambria" panose="02040503050406030204" pitchFamily="18" charset="0"/>
              </a:rPr>
              <a:t>Manohar</a:t>
            </a:r>
          </a:p>
          <a:p>
            <a:pPr>
              <a:lnSpc>
                <a:spcPct val="150000"/>
              </a:lnSpc>
            </a:pPr>
            <a:r>
              <a:rPr lang="en-US" sz="3000" dirty="0" smtClean="0">
                <a:latin typeface="Cambria" panose="02040503050406030204" pitchFamily="18" charset="0"/>
                <a:ea typeface="Cambria" panose="02040503050406030204" pitchFamily="18" charset="0"/>
              </a:rPr>
              <a:t>Asst.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xmlns=""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dirty="0">
                <a:latin typeface="Cambria" pitchFamily="18" charset="0"/>
                <a:ea typeface="Cambria" pitchFamily="18" charset="0"/>
              </a:rPr>
              <a:t>SDG 9 – Industry, Innovation and Infrastructure</a:t>
            </a:r>
            <a:endParaRPr lang="en-IN" sz="2800"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xmlns=""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837E9E58-77B6-079D-9D0D-E380CADAD23D}"/>
              </a:ext>
            </a:extLst>
          </p:cNvPr>
          <p:cNvSpPr txBox="1"/>
          <p:nvPr/>
        </p:nvSpPr>
        <p:spPr>
          <a:xfrm>
            <a:off x="2209800" y="1638300"/>
            <a:ext cx="15082325" cy="10741402"/>
          </a:xfrm>
          <a:prstGeom prst="rect">
            <a:avLst/>
          </a:prstGeom>
          <a:noFill/>
        </p:spPr>
        <p:txBody>
          <a:bodyPr wrap="square" rtlCol="0">
            <a:spAutoFit/>
          </a:bodyPr>
          <a:lstStyle/>
          <a:p>
            <a:pPr lvl="1" algn="just"/>
            <a:r>
              <a:rPr lang="en-US" sz="3600" dirty="0" smtClean="0"/>
              <a:t>           </a:t>
            </a:r>
          </a:p>
          <a:p>
            <a:pPr marL="914400" lvl="1" indent="-457200" algn="just">
              <a:buFontTx/>
              <a:buChar char="-"/>
            </a:pPr>
            <a:endParaRPr lang="en-US" sz="3600" dirty="0"/>
          </a:p>
          <a:p>
            <a:pPr lvl="1" algn="just"/>
            <a:r>
              <a:rPr lang="en-US" sz="3600" dirty="0" smtClean="0"/>
              <a:t>	 Inventory </a:t>
            </a:r>
            <a:r>
              <a:rPr lang="en-US" sz="3600" dirty="0"/>
              <a:t>management plays a vital role in businesses to track products, suppliers, and stock levels efficiently. Many small organizations still use manual methods such as notebooks or spreadsheets, which often result in errors and poor stock tracking.</a:t>
            </a:r>
          </a:p>
          <a:p>
            <a:pPr marL="457200" indent="-457200" algn="just">
              <a:buFontTx/>
              <a:buChar char="-"/>
            </a:pPr>
            <a:endParaRPr lang="en-US" sz="3600" dirty="0"/>
          </a:p>
          <a:p>
            <a:pPr marL="457200" indent="-457200" algn="just">
              <a:buFontTx/>
              <a:buChar char="-"/>
            </a:pPr>
            <a:endParaRPr lang="en-US" sz="3600" dirty="0"/>
          </a:p>
          <a:p>
            <a:pPr algn="just"/>
            <a:r>
              <a:rPr lang="en-US" sz="3600" dirty="0"/>
              <a:t>	</a:t>
            </a:r>
            <a:r>
              <a:rPr lang="en-US" sz="3600" dirty="0" smtClean="0"/>
              <a:t>The </a:t>
            </a:r>
            <a:r>
              <a:rPr lang="en-US" sz="3600" dirty="0"/>
              <a:t>Relational Inventory Control &amp; Stock Tracking System is designed to automate inventory operations. The system allows users to manage products, suppliers, and stock movements effectively. It also provides real-time analytics through charts and dashboards. This system improves accuracy, saves time, and helps businesses maintain better control over their inventory.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xmlns=""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BDE2941C-1504-53F9-99B2-48002CA9A345}"/>
              </a:ext>
            </a:extLst>
          </p:cNvPr>
          <p:cNvSpPr txBox="1"/>
          <p:nvPr/>
        </p:nvSpPr>
        <p:spPr>
          <a:xfrm>
            <a:off x="2209800" y="1638300"/>
            <a:ext cx="15082325" cy="11910953"/>
          </a:xfrm>
          <a:prstGeom prst="rect">
            <a:avLst/>
          </a:prstGeom>
          <a:noFill/>
        </p:spPr>
        <p:txBody>
          <a:bodyPr wrap="square" rtlCol="0">
            <a:spAutoFit/>
          </a:bodyPr>
          <a:lstStyle/>
          <a:p>
            <a:pPr marL="457200" indent="-457200" algn="just">
              <a:buFontTx/>
              <a:buChar char="-"/>
            </a:pPr>
            <a:endParaRPr lang="en-US" sz="3600" dirty="0" smtClean="0"/>
          </a:p>
          <a:p>
            <a:pPr marL="457200" indent="-457200" algn="just">
              <a:buFontTx/>
              <a:buChar char="-"/>
            </a:pPr>
            <a:endParaRPr lang="en-US" sz="3600" dirty="0"/>
          </a:p>
          <a:p>
            <a:pPr algn="just"/>
            <a:r>
              <a:rPr lang="en-US" sz="3600" dirty="0" smtClean="0"/>
              <a:t>	In </a:t>
            </a:r>
            <a:r>
              <a:rPr lang="en-US" sz="3600" dirty="0"/>
              <a:t>many organizations, inventory management is handled manually or using simple tools that lack automation. This leads to inaccurate stock records, delays in updating product information, and difficulty in monitoring stock movements</a:t>
            </a:r>
            <a:r>
              <a:rPr lang="en-US" sz="3600" dirty="0" smtClean="0"/>
              <a:t>.</a:t>
            </a:r>
          </a:p>
          <a:p>
            <a:pPr marL="457200" indent="-457200" algn="just">
              <a:buFontTx/>
              <a:buChar char="-"/>
            </a:pPr>
            <a:endParaRPr lang="en-US" sz="3600" dirty="0"/>
          </a:p>
          <a:p>
            <a:pPr marL="457200" indent="-457200" algn="just">
              <a:buFontTx/>
              <a:buChar char="-"/>
            </a:pPr>
            <a:endParaRPr lang="en-US" sz="3600" dirty="0" smtClean="0"/>
          </a:p>
          <a:p>
            <a:pPr algn="just"/>
            <a:r>
              <a:rPr lang="en-US" sz="3600" dirty="0"/>
              <a:t>	Businesses may face problems such as overstocking or running out of products due to poor tracking. There is a need for an automated system that can efficiently manage product details, suppliers, and stock movements while providing real-time insights for better inventory control.</a:t>
            </a:r>
          </a:p>
          <a:p>
            <a:pPr marL="457200" indent="-457200">
              <a:buFontTx/>
              <a:buChar char="-"/>
            </a:pPr>
            <a:endParaRPr lang="en-US" sz="36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xmlns=""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xmlns=""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2" name="TextBox 51">
            <a:extLst>
              <a:ext uri="{FF2B5EF4-FFF2-40B4-BE49-F238E27FC236}">
                <a16:creationId xmlns:a16="http://schemas.microsoft.com/office/drawing/2014/main" xmlns="" id="{056A0A3A-1541-5EC0-5370-02DA282ABDDE}"/>
              </a:ext>
            </a:extLst>
          </p:cNvPr>
          <p:cNvSpPr txBox="1"/>
          <p:nvPr/>
        </p:nvSpPr>
        <p:spPr>
          <a:xfrm>
            <a:off x="2209800" y="1638300"/>
            <a:ext cx="15082325" cy="7971413"/>
          </a:xfrm>
          <a:prstGeom prst="rect">
            <a:avLst/>
          </a:prstGeom>
          <a:noFill/>
        </p:spPr>
        <p:txBody>
          <a:bodyPr wrap="square" rtlCol="0">
            <a:spAutoFit/>
          </a:bodyPr>
          <a:lstStyle/>
          <a:p>
            <a:pPr algn="just"/>
            <a:endParaRPr lang="en-US" sz="3600" dirty="0" smtClean="0"/>
          </a:p>
          <a:p>
            <a:pPr algn="just"/>
            <a:endParaRPr lang="en-US" sz="3600" dirty="0" smtClean="0"/>
          </a:p>
          <a:p>
            <a:pPr algn="just"/>
            <a:r>
              <a:rPr lang="en-US" sz="3600" dirty="0" smtClean="0"/>
              <a:t>• </a:t>
            </a:r>
            <a:r>
              <a:rPr lang="en-US" sz="3600" dirty="0"/>
              <a:t>To design and develop a web-based Relational Inventory Control &amp; Stock Tracking System for managing products, suppliers, and stock transactions.</a:t>
            </a:r>
          </a:p>
          <a:p>
            <a:pPr algn="just"/>
            <a:endParaRPr lang="en-US" sz="3600" dirty="0" smtClean="0"/>
          </a:p>
          <a:p>
            <a:pPr algn="just"/>
            <a:endParaRPr lang="en-US" sz="3600" dirty="0"/>
          </a:p>
          <a:p>
            <a:pPr algn="just"/>
            <a:r>
              <a:rPr lang="en-US" sz="3600" dirty="0" smtClean="0"/>
              <a:t>• </a:t>
            </a:r>
            <a:r>
              <a:rPr lang="en-US" sz="3600" dirty="0"/>
              <a:t>To implement a dashboard with graphical analytics and stock alerts to improve inventory monitoring and decision-making.</a:t>
            </a:r>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xmlns=""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6" name="TextBox 45">
            <a:extLst>
              <a:ext uri="{FF2B5EF4-FFF2-40B4-BE49-F238E27FC236}">
                <a16:creationId xmlns:a16="http://schemas.microsoft.com/office/drawing/2014/main" xmlns=""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E8F19716-1653-9AE0-442E-B3829A585B46}"/>
              </a:ext>
            </a:extLst>
          </p:cNvPr>
          <p:cNvSpPr txBox="1"/>
          <p:nvPr/>
        </p:nvSpPr>
        <p:spPr>
          <a:xfrm>
            <a:off x="2209800" y="1638300"/>
            <a:ext cx="15082325" cy="6740307"/>
          </a:xfrm>
          <a:prstGeom prst="rect">
            <a:avLst/>
          </a:prstGeom>
          <a:noFill/>
        </p:spPr>
        <p:txBody>
          <a:bodyPr wrap="square" rtlCol="0">
            <a:spAutoFit/>
          </a:bodyPr>
          <a:lstStyle/>
          <a:p>
            <a:pPr marL="571500" indent="-571500" algn="just">
              <a:buFont typeface="Arial" pitchFamily="34" charset="0"/>
              <a:buChar char="•"/>
            </a:pPr>
            <a:endParaRPr lang="en-US" sz="3600" dirty="0" smtClean="0"/>
          </a:p>
          <a:p>
            <a:pPr marL="571500" indent="-571500" algn="just">
              <a:buFont typeface="Arial" pitchFamily="34" charset="0"/>
              <a:buChar char="•"/>
            </a:pPr>
            <a:r>
              <a:rPr lang="en-US" sz="3600" dirty="0" smtClean="0"/>
              <a:t>The </a:t>
            </a:r>
            <a:r>
              <a:rPr lang="en-US" sz="3600" dirty="0"/>
              <a:t>proposed system is a web-based inventory management application that automates the process of tracking products and stock levels</a:t>
            </a:r>
            <a:r>
              <a:rPr lang="en-US" sz="3600" dirty="0" smtClean="0"/>
              <a:t>.</a:t>
            </a:r>
          </a:p>
          <a:p>
            <a:pPr marL="571500" indent="-571500" algn="just">
              <a:buFont typeface="Arial" pitchFamily="34" charset="0"/>
              <a:buChar char="•"/>
            </a:pPr>
            <a:r>
              <a:rPr lang="en-US" sz="3600" dirty="0" smtClean="0"/>
              <a:t> </a:t>
            </a:r>
            <a:r>
              <a:rPr lang="en-US" sz="3600" dirty="0"/>
              <a:t>It allows users to add, update, and delete product information easily. </a:t>
            </a:r>
            <a:endParaRPr lang="en-US" sz="3600" dirty="0" smtClean="0"/>
          </a:p>
          <a:p>
            <a:pPr marL="571500" indent="-571500" algn="just">
              <a:buFont typeface="Arial" pitchFamily="34" charset="0"/>
              <a:buChar char="•"/>
            </a:pPr>
            <a:r>
              <a:rPr lang="en-US" sz="3600" dirty="0" smtClean="0"/>
              <a:t>The </a:t>
            </a:r>
            <a:r>
              <a:rPr lang="en-US" sz="3600" dirty="0"/>
              <a:t>system records stock movements such as stock-in and stock-out transactions. </a:t>
            </a:r>
            <a:endParaRPr lang="en-US" sz="3600" dirty="0" smtClean="0"/>
          </a:p>
          <a:p>
            <a:pPr marL="571500" indent="-571500" algn="just">
              <a:buFont typeface="Arial" pitchFamily="34" charset="0"/>
              <a:buChar char="•"/>
            </a:pPr>
            <a:r>
              <a:rPr lang="en-US" sz="3600" dirty="0" smtClean="0"/>
              <a:t>Supplier </a:t>
            </a:r>
            <a:r>
              <a:rPr lang="en-US" sz="3600" dirty="0"/>
              <a:t>details can also be managed within the system. The dashboard provides graphical analytics such as bar charts, pie charts, and line charts to visualize stock data. </a:t>
            </a:r>
            <a:endParaRPr lang="en-US" sz="3600" dirty="0" smtClean="0"/>
          </a:p>
          <a:p>
            <a:pPr marL="571500" indent="-571500" algn="just">
              <a:buFont typeface="Arial" pitchFamily="34" charset="0"/>
              <a:buChar char="•"/>
            </a:pPr>
            <a:r>
              <a:rPr lang="en-US" sz="3600" dirty="0" smtClean="0"/>
              <a:t>It </a:t>
            </a:r>
            <a:r>
              <a:rPr lang="en-US" sz="3600" dirty="0"/>
              <a:t>also generates alerts when stock levels are low</a:t>
            </a:r>
            <a:r>
              <a:rPr lang="en-US" sz="3600" dirty="0" smtClean="0"/>
              <a:t>.</a:t>
            </a:r>
          </a:p>
          <a:p>
            <a:pPr marL="571500" indent="-571500" algn="just">
              <a:buFont typeface="Arial" pitchFamily="34" charset="0"/>
              <a:buChar char="•"/>
            </a:pPr>
            <a:r>
              <a:rPr lang="en-US" sz="3600" dirty="0" smtClean="0"/>
              <a:t> </a:t>
            </a:r>
            <a:r>
              <a:rPr lang="en-US" sz="3600" dirty="0"/>
              <a:t>This system improves efficiency, accuracy, and decision-making for inventory management.</a:t>
            </a:r>
            <a:endParaRPr lang="en-IN"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xmlns=""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2" name="TextBox 41">
            <a:extLst>
              <a:ext uri="{FF2B5EF4-FFF2-40B4-BE49-F238E27FC236}">
                <a16:creationId xmlns:a16="http://schemas.microsoft.com/office/drawing/2014/main" xmlns=""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9200" y="1987111"/>
            <a:ext cx="9753600" cy="89252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7" name="TextBox 46">
            <a:extLst>
              <a:ext uri="{FF2B5EF4-FFF2-40B4-BE49-F238E27FC236}">
                <a16:creationId xmlns:a16="http://schemas.microsoft.com/office/drawing/2014/main" xmlns=""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000" y="1146935"/>
            <a:ext cx="6705600" cy="82637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7" name="TextBox 46">
            <a:extLst>
              <a:ext uri="{FF2B5EF4-FFF2-40B4-BE49-F238E27FC236}">
                <a16:creationId xmlns:a16="http://schemas.microsoft.com/office/drawing/2014/main" xmlns=""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26E9F5F9-CCF8-6F05-4C01-034C88D7529E}"/>
              </a:ext>
            </a:extLst>
          </p:cNvPr>
          <p:cNvSpPr txBox="1"/>
          <p:nvPr/>
        </p:nvSpPr>
        <p:spPr>
          <a:xfrm>
            <a:off x="2209800" y="1638300"/>
            <a:ext cx="15082325" cy="7294305"/>
          </a:xfrm>
          <a:prstGeom prst="rect">
            <a:avLst/>
          </a:prstGeom>
          <a:noFill/>
        </p:spPr>
        <p:txBody>
          <a:bodyPr wrap="square" rtlCol="0">
            <a:spAutoFit/>
          </a:bodyPr>
          <a:lstStyle/>
          <a:p>
            <a:pPr lvl="1"/>
            <a:r>
              <a:rPr lang="en-IN" sz="3600" b="1" dirty="0"/>
              <a:t>Frontend:</a:t>
            </a:r>
            <a:endParaRPr lang="en-IN" sz="3600" dirty="0"/>
          </a:p>
          <a:p>
            <a:pPr marL="1028700" lvl="1" indent="-571500">
              <a:buFont typeface="Arial" pitchFamily="34" charset="0"/>
              <a:buChar char="•"/>
            </a:pPr>
            <a:r>
              <a:rPr lang="en-IN" sz="3600" dirty="0" smtClean="0"/>
              <a:t>HTML5</a:t>
            </a:r>
            <a:endParaRPr lang="en-IN" sz="3600" dirty="0"/>
          </a:p>
          <a:p>
            <a:pPr marL="1028700" lvl="1" indent="-571500">
              <a:buFont typeface="Arial" pitchFamily="34" charset="0"/>
              <a:buChar char="•"/>
            </a:pPr>
            <a:r>
              <a:rPr lang="en-IN" sz="3600" dirty="0" smtClean="0"/>
              <a:t>CSS3</a:t>
            </a:r>
            <a:endParaRPr lang="en-IN" sz="3600" dirty="0"/>
          </a:p>
          <a:p>
            <a:pPr marL="1028700" lvl="1" indent="-571500">
              <a:buFont typeface="Arial" pitchFamily="34" charset="0"/>
              <a:buChar char="•"/>
            </a:pPr>
            <a:r>
              <a:rPr lang="en-IN" sz="3600" dirty="0"/>
              <a:t>JavaScript</a:t>
            </a:r>
          </a:p>
          <a:p>
            <a:pPr lvl="1"/>
            <a:r>
              <a:rPr lang="en-IN" sz="3600" b="1" dirty="0"/>
              <a:t>Backend:</a:t>
            </a:r>
          </a:p>
          <a:p>
            <a:pPr marL="1028700" lvl="1" indent="-571500">
              <a:buFont typeface="Arial" pitchFamily="34" charset="0"/>
              <a:buChar char="•"/>
            </a:pPr>
            <a:r>
              <a:rPr lang="en-IN" sz="3600" dirty="0"/>
              <a:t>PHP</a:t>
            </a:r>
          </a:p>
          <a:p>
            <a:pPr lvl="1"/>
            <a:r>
              <a:rPr lang="en-IN" sz="3600" b="1" dirty="0"/>
              <a:t>Database:</a:t>
            </a:r>
          </a:p>
          <a:p>
            <a:pPr marL="1028700" lvl="1" indent="-571500">
              <a:buFont typeface="Arial" pitchFamily="34" charset="0"/>
              <a:buChar char="•"/>
            </a:pPr>
            <a:r>
              <a:rPr lang="en-IN" sz="3600" dirty="0"/>
              <a:t>MySQL</a:t>
            </a:r>
          </a:p>
          <a:p>
            <a:pPr lvl="1"/>
            <a:r>
              <a:rPr lang="en-IN" sz="3600" b="1" dirty="0"/>
              <a:t>Tools:</a:t>
            </a:r>
          </a:p>
          <a:p>
            <a:pPr marL="1028700" lvl="1" indent="-571500">
              <a:buFont typeface="Arial" pitchFamily="34" charset="0"/>
              <a:buChar char="•"/>
            </a:pPr>
            <a:r>
              <a:rPr lang="en-IN" sz="3600" dirty="0"/>
              <a:t>XAMPP, VS </a:t>
            </a:r>
            <a:r>
              <a:rPr lang="en-IN" sz="3600" dirty="0" smtClean="0"/>
              <a:t>Code</a:t>
            </a:r>
            <a:endParaRPr lang="en-IN" sz="3600" dirty="0"/>
          </a:p>
          <a:p>
            <a:pPr lvl="1"/>
            <a:r>
              <a:rPr lang="en-IN" sz="3600" b="1" dirty="0"/>
              <a:t>Hardware/Software Requirements:</a:t>
            </a:r>
            <a:endParaRPr lang="en-IN" sz="3600" dirty="0"/>
          </a:p>
          <a:p>
            <a:pPr marL="1028700" lvl="1" indent="-571500">
              <a:buFont typeface="Arial" pitchFamily="34" charset="0"/>
              <a:buChar char="•"/>
            </a:pPr>
            <a:r>
              <a:rPr lang="en-IN" sz="3600" dirty="0"/>
              <a:t>Computer system with minimum 4GB RAM</a:t>
            </a:r>
          </a:p>
          <a:p>
            <a:pPr marL="1028700" lvl="1" indent="-571500">
              <a:buFont typeface="Arial" pitchFamily="34" charset="0"/>
              <a:buChar char="•"/>
            </a:pPr>
            <a:r>
              <a:rPr lang="en-IN" sz="3600" dirty="0"/>
              <a:t> XAMPP server and modern web browser.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9304C197-EAC7-7A26-FAED-ED7302DBEC6E}"/>
              </a:ext>
            </a:extLst>
          </p:cNvPr>
          <p:cNvSpPr txBox="1"/>
          <p:nvPr/>
        </p:nvSpPr>
        <p:spPr>
          <a:xfrm>
            <a:off x="2209800" y="1638300"/>
            <a:ext cx="15082325" cy="6740307"/>
          </a:xfrm>
          <a:prstGeom prst="rect">
            <a:avLst/>
          </a:prstGeom>
          <a:noFill/>
        </p:spPr>
        <p:txBody>
          <a:bodyPr wrap="square" rtlCol="0">
            <a:spAutoFit/>
          </a:bodyPr>
          <a:lstStyle/>
          <a:p>
            <a:endParaRPr lang="en-US" sz="3600" b="1" dirty="0" smtClean="0"/>
          </a:p>
          <a:p>
            <a:r>
              <a:rPr lang="en-US" sz="3600" b="1" dirty="0" smtClean="0"/>
              <a:t>Module </a:t>
            </a:r>
            <a:r>
              <a:rPr lang="en-US" sz="3600" b="1" dirty="0"/>
              <a:t>1: User Authentication</a:t>
            </a:r>
            <a:r>
              <a:rPr lang="en-US" sz="3600" dirty="0"/>
              <a:t/>
            </a:r>
            <a:br>
              <a:rPr lang="en-US" sz="3600" dirty="0"/>
            </a:br>
            <a:r>
              <a:rPr lang="en-US" sz="3600" dirty="0"/>
              <a:t>Manages user login and session control to provide secure access to the system.</a:t>
            </a:r>
          </a:p>
          <a:p>
            <a:r>
              <a:rPr lang="en-US" sz="3600" b="1" dirty="0"/>
              <a:t>Module 2: Product Management</a:t>
            </a:r>
            <a:r>
              <a:rPr lang="en-US" sz="3600" dirty="0"/>
              <a:t/>
            </a:r>
            <a:br>
              <a:rPr lang="en-US" sz="3600" dirty="0"/>
            </a:br>
            <a:r>
              <a:rPr lang="en-US" sz="3600" dirty="0"/>
              <a:t>Allows users to add, edit, delete, and view product information including category, supplier, price, and stock.</a:t>
            </a:r>
          </a:p>
          <a:p>
            <a:r>
              <a:rPr lang="en-US" sz="3600" b="1" dirty="0"/>
              <a:t>Module 3: Stock Management</a:t>
            </a:r>
            <a:r>
              <a:rPr lang="en-US" sz="3600" dirty="0"/>
              <a:t/>
            </a:r>
            <a:br>
              <a:rPr lang="en-US" sz="3600" dirty="0"/>
            </a:br>
            <a:r>
              <a:rPr lang="en-US" sz="3600" dirty="0"/>
              <a:t>Handles stock-in and stock-out transactions and automatically updates product stock levels.</a:t>
            </a:r>
          </a:p>
          <a:p>
            <a:r>
              <a:rPr lang="en-US" sz="3600" b="1" dirty="0"/>
              <a:t>Module 4: Dashboard &amp; Analytics</a:t>
            </a:r>
            <a:r>
              <a:rPr lang="en-US" sz="3600" dirty="0"/>
              <a:t/>
            </a:r>
            <a:br>
              <a:rPr lang="en-US" sz="3600" dirty="0"/>
            </a:br>
            <a:r>
              <a:rPr lang="en-US" sz="3600" dirty="0"/>
              <a:t>Displays charts, stock statistics, and alerts to help users monitor inventory performance.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xmlns=""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35C6402D-9C63-51C1-99A9-4206C0537740}"/>
              </a:ext>
            </a:extLst>
          </p:cNvPr>
          <p:cNvSpPr txBox="1"/>
          <p:nvPr/>
        </p:nvSpPr>
        <p:spPr>
          <a:xfrm>
            <a:off x="38862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48517" y="2063480"/>
            <a:ext cx="14237843" cy="6682210"/>
          </a:xfrm>
          <a:prstGeom prst="rect">
            <a:avLst/>
          </a:prstGeom>
        </p:spPr>
      </p:pic>
      <p:sp>
        <p:nvSpPr>
          <p:cNvPr id="4" name="TextBox 3"/>
          <p:cNvSpPr txBox="1"/>
          <p:nvPr/>
        </p:nvSpPr>
        <p:spPr>
          <a:xfrm>
            <a:off x="2209800" y="1336018"/>
            <a:ext cx="4038600" cy="646331"/>
          </a:xfrm>
          <a:prstGeom prst="rect">
            <a:avLst/>
          </a:prstGeom>
          <a:noFill/>
        </p:spPr>
        <p:txBody>
          <a:bodyPr wrap="square" rtlCol="0">
            <a:spAutoFit/>
          </a:bodyPr>
          <a:lstStyle/>
          <a:p>
            <a:r>
              <a:rPr lang="en-US" sz="3600" b="1" dirty="0" smtClean="0">
                <a:latin typeface="Times New Roman" pitchFamily="18" charset="0"/>
                <a:cs typeface="Times New Roman" pitchFamily="18" charset="0"/>
              </a:rPr>
              <a:t>Home</a:t>
            </a:r>
            <a:r>
              <a:rPr lang="en-US" b="1"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page:</a:t>
            </a:r>
            <a:endParaRPr lang="en-IN" sz="3600" b="1" dirty="0">
              <a:latin typeface="Times New Roman" pitchFamily="18" charset="0"/>
              <a:cs typeface="Times New Roman" pitchFamily="18" charset="0"/>
            </a:endParaRPr>
          </a:p>
        </p:txBody>
      </p:sp>
      <p:sp>
        <p:nvSpPr>
          <p:cNvPr id="5" name="TextBox 4"/>
          <p:cNvSpPr txBox="1"/>
          <p:nvPr/>
        </p:nvSpPr>
        <p:spPr>
          <a:xfrm>
            <a:off x="2920428" y="8953500"/>
            <a:ext cx="13494020" cy="1077218"/>
          </a:xfrm>
          <a:prstGeom prst="rect">
            <a:avLst/>
          </a:prstGeom>
          <a:noFill/>
        </p:spPr>
        <p:txBody>
          <a:bodyPr wrap="square" rtlCol="0">
            <a:spAutoFit/>
          </a:bodyPr>
          <a:lstStyle/>
          <a:p>
            <a:r>
              <a:rPr lang="en-US" sz="3200" dirty="0" smtClean="0"/>
              <a:t>It displays  total products, total stock and some more additional data about products in the form of charts.</a:t>
            </a:r>
            <a:endParaRPr lang="en-IN" sz="3200" dirty="0"/>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xmlns=""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5228" y="2525622"/>
            <a:ext cx="6698094" cy="5507126"/>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52160" y="2422479"/>
            <a:ext cx="6934200" cy="5371484"/>
          </a:xfrm>
          <a:prstGeom prst="rect">
            <a:avLst/>
          </a:prstGeom>
        </p:spPr>
      </p:pic>
      <p:sp>
        <p:nvSpPr>
          <p:cNvPr id="6" name="TextBox 5"/>
          <p:cNvSpPr txBox="1"/>
          <p:nvPr/>
        </p:nvSpPr>
        <p:spPr>
          <a:xfrm>
            <a:off x="2985228" y="1562100"/>
            <a:ext cx="3720372" cy="646331"/>
          </a:xfrm>
          <a:prstGeom prst="rect">
            <a:avLst/>
          </a:prstGeom>
          <a:noFill/>
        </p:spPr>
        <p:txBody>
          <a:bodyPr wrap="square" rtlCol="0">
            <a:spAutoFit/>
          </a:bodyPr>
          <a:lstStyle/>
          <a:p>
            <a:r>
              <a:rPr lang="en-US" sz="3600" b="1" dirty="0" smtClean="0"/>
              <a:t>Login Page:     </a:t>
            </a:r>
            <a:endParaRPr lang="en-IN" sz="3600" b="1" dirty="0"/>
          </a:p>
        </p:txBody>
      </p:sp>
      <p:sp>
        <p:nvSpPr>
          <p:cNvPr id="38" name="TextBox 37"/>
          <p:cNvSpPr txBox="1"/>
          <p:nvPr/>
        </p:nvSpPr>
        <p:spPr>
          <a:xfrm>
            <a:off x="9852160" y="1562100"/>
            <a:ext cx="5235440" cy="646331"/>
          </a:xfrm>
          <a:prstGeom prst="rect">
            <a:avLst/>
          </a:prstGeom>
          <a:noFill/>
        </p:spPr>
        <p:txBody>
          <a:bodyPr wrap="square" rtlCol="0">
            <a:spAutoFit/>
          </a:bodyPr>
          <a:lstStyle/>
          <a:p>
            <a:r>
              <a:rPr lang="en-US" sz="3600" b="1" dirty="0" smtClean="0"/>
              <a:t>Register Page:</a:t>
            </a:r>
            <a:endParaRPr lang="en-IN" sz="3600" b="1" dirty="0"/>
          </a:p>
        </p:txBody>
      </p:sp>
      <p:sp>
        <p:nvSpPr>
          <p:cNvPr id="39" name="TextBox 38"/>
          <p:cNvSpPr txBox="1"/>
          <p:nvPr/>
        </p:nvSpPr>
        <p:spPr>
          <a:xfrm>
            <a:off x="2707910" y="8253668"/>
            <a:ext cx="14439900" cy="1815882"/>
          </a:xfrm>
          <a:prstGeom prst="rect">
            <a:avLst/>
          </a:prstGeom>
          <a:noFill/>
        </p:spPr>
        <p:txBody>
          <a:bodyPr wrap="square" rtlCol="0">
            <a:spAutoFit/>
          </a:bodyPr>
          <a:lstStyle/>
          <a:p>
            <a:r>
              <a:rPr lang="en-US" sz="2800" b="1" dirty="0" smtClean="0"/>
              <a:t>Login Page:</a:t>
            </a:r>
          </a:p>
          <a:p>
            <a:r>
              <a:rPr lang="en-US" sz="2800" dirty="0"/>
              <a:t> </a:t>
            </a:r>
            <a:r>
              <a:rPr lang="en-US" sz="2800" dirty="0" smtClean="0"/>
              <a:t>  Allows users to login and  track data continously and monitor stock alerts about products.</a:t>
            </a:r>
          </a:p>
          <a:p>
            <a:r>
              <a:rPr lang="en-US" sz="2800" b="1" dirty="0" smtClean="0"/>
              <a:t>Register Page:</a:t>
            </a:r>
          </a:p>
          <a:p>
            <a:r>
              <a:rPr lang="en-US" sz="2800" b="1" dirty="0"/>
              <a:t> </a:t>
            </a:r>
            <a:r>
              <a:rPr lang="en-US" sz="2800" b="1" dirty="0" smtClean="0"/>
              <a:t>  </a:t>
            </a:r>
            <a:r>
              <a:rPr lang="en-US" sz="2800" dirty="0"/>
              <a:t>Allows users to create new account if it doesn’t exist</a:t>
            </a:r>
            <a:r>
              <a:rPr lang="en-US" sz="2800" dirty="0" smtClean="0"/>
              <a:t>.</a:t>
            </a:r>
            <a:endParaRPr lang="en-US" sz="2800" dirty="0"/>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xmlns=""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7120" y="1861394"/>
            <a:ext cx="14452180" cy="6824342"/>
          </a:xfrm>
          <a:prstGeom prst="rect">
            <a:avLst/>
          </a:prstGeom>
        </p:spPr>
      </p:pic>
      <p:sp>
        <p:nvSpPr>
          <p:cNvPr id="3" name="TextBox 2"/>
          <p:cNvSpPr txBox="1"/>
          <p:nvPr/>
        </p:nvSpPr>
        <p:spPr>
          <a:xfrm>
            <a:off x="2718490" y="1173897"/>
            <a:ext cx="4977710" cy="646331"/>
          </a:xfrm>
          <a:prstGeom prst="rect">
            <a:avLst/>
          </a:prstGeom>
          <a:noFill/>
        </p:spPr>
        <p:txBody>
          <a:bodyPr wrap="square" rtlCol="0">
            <a:spAutoFit/>
          </a:bodyPr>
          <a:lstStyle/>
          <a:p>
            <a:r>
              <a:rPr lang="en-US" sz="3600" b="1" dirty="0" smtClean="0"/>
              <a:t>Products Page:</a:t>
            </a:r>
          </a:p>
        </p:txBody>
      </p:sp>
      <p:sp>
        <p:nvSpPr>
          <p:cNvPr id="4" name="TextBox 3"/>
          <p:cNvSpPr txBox="1"/>
          <p:nvPr/>
        </p:nvSpPr>
        <p:spPr>
          <a:xfrm>
            <a:off x="3308752" y="8910786"/>
            <a:ext cx="12884420" cy="954107"/>
          </a:xfrm>
          <a:prstGeom prst="rect">
            <a:avLst/>
          </a:prstGeom>
          <a:noFill/>
        </p:spPr>
        <p:txBody>
          <a:bodyPr wrap="square" rtlCol="0">
            <a:spAutoFit/>
          </a:bodyPr>
          <a:lstStyle/>
          <a:p>
            <a:r>
              <a:rPr lang="en-US" sz="2800" dirty="0" smtClean="0"/>
              <a:t>It displays all the products or stocks and their availability along with add, edit and delete operations.</a:t>
            </a:r>
            <a:endParaRPr lang="en-IN" sz="2800" dirty="0"/>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xmlns=""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3491" y="2147469"/>
            <a:ext cx="7577909" cy="5458786"/>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00" y="1982349"/>
            <a:ext cx="5664470" cy="6050399"/>
          </a:xfrm>
          <a:prstGeom prst="rect">
            <a:avLst/>
          </a:prstGeom>
        </p:spPr>
      </p:pic>
      <p:sp>
        <p:nvSpPr>
          <p:cNvPr id="5" name="TextBox 4"/>
          <p:cNvSpPr txBox="1"/>
          <p:nvPr/>
        </p:nvSpPr>
        <p:spPr>
          <a:xfrm>
            <a:off x="2209800" y="1409700"/>
            <a:ext cx="5715000" cy="646331"/>
          </a:xfrm>
          <a:prstGeom prst="rect">
            <a:avLst/>
          </a:prstGeom>
          <a:noFill/>
        </p:spPr>
        <p:txBody>
          <a:bodyPr wrap="square" rtlCol="0">
            <a:spAutoFit/>
          </a:bodyPr>
          <a:lstStyle/>
          <a:p>
            <a:r>
              <a:rPr lang="en-US" sz="3600" b="1" dirty="0" smtClean="0"/>
              <a:t>Output Page:</a:t>
            </a:r>
            <a:endParaRPr lang="en-IN" sz="3600" b="1" dirty="0"/>
          </a:p>
        </p:txBody>
      </p:sp>
      <p:sp>
        <p:nvSpPr>
          <p:cNvPr id="6" name="TextBox 5"/>
          <p:cNvSpPr txBox="1"/>
          <p:nvPr/>
        </p:nvSpPr>
        <p:spPr>
          <a:xfrm>
            <a:off x="2819400" y="8648700"/>
            <a:ext cx="13966960" cy="1077218"/>
          </a:xfrm>
          <a:prstGeom prst="rect">
            <a:avLst/>
          </a:prstGeom>
          <a:noFill/>
        </p:spPr>
        <p:txBody>
          <a:bodyPr wrap="square" rtlCol="0">
            <a:spAutoFit/>
          </a:bodyPr>
          <a:lstStyle/>
          <a:p>
            <a:r>
              <a:rPr lang="en-US" sz="3200" dirty="0" smtClean="0"/>
              <a:t>It may display in the form of graphs or may download the excel report about the products.</a:t>
            </a:r>
            <a:endParaRPr lang="en-IN" sz="3200" dirty="0"/>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xmlns=""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xmlns=""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xmlns=""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xmlns=""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xmlns=""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xmlns=""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xmlns=""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xmlns=""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xmlns=""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xmlns=""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xmlns=""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xmlns=""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xmlns=""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xmlns=""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xmlns=""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xmlns=""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xmlns=""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xmlns=""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xmlns=""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xmlns=""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xmlns=""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xmlns=""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xmlns=""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xmlns=""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xmlns=""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xmlns=""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xmlns=""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xmlns=""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44" name="Group 44">
            <a:extLst>
              <a:ext uri="{FF2B5EF4-FFF2-40B4-BE49-F238E27FC236}">
                <a16:creationId xmlns:a16="http://schemas.microsoft.com/office/drawing/2014/main" xmlns=""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xmlns=""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xmlns=""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xmlns=""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438400" y="2245318"/>
            <a:ext cx="14554200" cy="6186309"/>
          </a:xfrm>
          <a:prstGeom prst="rect">
            <a:avLst/>
          </a:prstGeom>
          <a:noFill/>
        </p:spPr>
        <p:txBody>
          <a:bodyPr wrap="square" rtlCol="0">
            <a:spAutoFit/>
          </a:bodyPr>
          <a:lstStyle/>
          <a:p>
            <a:r>
              <a:rPr lang="en-US" sz="3600" b="1" dirty="0"/>
              <a:t>Advantages</a:t>
            </a:r>
          </a:p>
          <a:p>
            <a:r>
              <a:rPr lang="en-US" sz="3600" dirty="0"/>
              <a:t>• Reduces manual inventory management errors</a:t>
            </a:r>
            <a:br>
              <a:rPr lang="en-US" sz="3600" dirty="0"/>
            </a:br>
            <a:r>
              <a:rPr lang="en-US" sz="3600" dirty="0"/>
              <a:t>• Provides real-time stock monitoring</a:t>
            </a:r>
            <a:br>
              <a:rPr lang="en-US" sz="3600" dirty="0"/>
            </a:br>
            <a:r>
              <a:rPr lang="en-US" sz="3600" dirty="0"/>
              <a:t>• Easy product and supplier management</a:t>
            </a:r>
            <a:br>
              <a:rPr lang="en-US" sz="3600" dirty="0"/>
            </a:br>
            <a:r>
              <a:rPr lang="en-US" sz="3600" dirty="0"/>
              <a:t>• Graphical dashboard for better </a:t>
            </a:r>
            <a:r>
              <a:rPr lang="en-US" sz="3600" dirty="0" smtClean="0"/>
              <a:t>insights</a:t>
            </a:r>
          </a:p>
          <a:p>
            <a:endParaRPr lang="en-US" sz="3600" dirty="0"/>
          </a:p>
          <a:p>
            <a:r>
              <a:rPr lang="en-US" sz="3600" b="1" dirty="0"/>
              <a:t>Limitations</a:t>
            </a:r>
          </a:p>
          <a:p>
            <a:r>
              <a:rPr lang="en-US" sz="3600" dirty="0"/>
              <a:t>• Requires server setup and internet access</a:t>
            </a:r>
            <a:br>
              <a:rPr lang="en-US" sz="3600" dirty="0"/>
            </a:br>
            <a:r>
              <a:rPr lang="en-US" sz="3600" dirty="0"/>
              <a:t>• Limited scalability for very large enterprise environments</a:t>
            </a:r>
            <a:br>
              <a:rPr lang="en-US" sz="3600" dirty="0"/>
            </a:br>
            <a:r>
              <a:rPr lang="en-US" sz="3600" dirty="0"/>
              <a:t>• Additional security features may be required for production systems</a:t>
            </a:r>
          </a:p>
          <a:p>
            <a:endParaRPr lang="en-IN" sz="36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3886</TotalTime>
  <Words>523</Words>
  <Application>Microsoft Office PowerPoint</Application>
  <PresentationFormat>Custom</PresentationFormat>
  <Paragraphs>248</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Gotham</vt:lpstr>
      <vt:lpstr>Cambria</vt:lpstr>
      <vt:lpstr>Bookman Old Style</vt:lpstr>
      <vt:lpstr>Times New Roman</vt:lpstr>
      <vt:lpstr>Gotham Bold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ACER</cp:lastModifiedBy>
  <cp:revision>31</cp:revision>
  <dcterms:created xsi:type="dcterms:W3CDTF">2006-08-16T00:00:00Z</dcterms:created>
  <dcterms:modified xsi:type="dcterms:W3CDTF">2026-03-27T09:47:44Z</dcterms:modified>
  <dc:identifier>DAHCaYqJ9OU</dc:identifier>
</cp:coreProperties>
</file>